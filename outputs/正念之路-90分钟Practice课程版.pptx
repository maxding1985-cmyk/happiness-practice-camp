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45c4edd3b140bf" /><Relationship Type="http://schemas.openxmlformats.org/officeDocument/2006/relationships/extended-properties" Target="/docProps/app.xml" Id="R78457fe7de714d6d" /><Relationship Type="http://schemas.openxmlformats.org/officeDocument/2006/relationships/officeDocument" Target="/ppt/presentation.xml" Id="Rce1b9f18b0034a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73d2480a01499b"/>
  </p:sldMasterIdLst>
  <p:notesMasterIdLst>
    <p:notesMasterId xmlns:r="http://schemas.openxmlformats.org/officeDocument/2006/relationships" r:id="R537ae90a545a43cd"/>
  </p:notesMasterIdLst>
  <p:sldIdLst>
    <p:sldId xmlns:r="http://schemas.openxmlformats.org/officeDocument/2006/relationships" id="256" r:id="Rf367fd2d98e64d41"/>
    <p:sldId xmlns:r="http://schemas.openxmlformats.org/officeDocument/2006/relationships" id="257" r:id="R056c643cc6d04668"/>
    <p:sldId xmlns:r="http://schemas.openxmlformats.org/officeDocument/2006/relationships" id="258" r:id="R4f373a845fed4d61"/>
    <p:sldId xmlns:r="http://schemas.openxmlformats.org/officeDocument/2006/relationships" id="259" r:id="Rc93591b230224ca3"/>
    <p:sldId xmlns:r="http://schemas.openxmlformats.org/officeDocument/2006/relationships" id="260" r:id="R24eadaa91a904587"/>
    <p:sldId xmlns:r="http://schemas.openxmlformats.org/officeDocument/2006/relationships" id="261" r:id="Re50f51c356e44d56"/>
    <p:sldId xmlns:r="http://schemas.openxmlformats.org/officeDocument/2006/relationships" id="262" r:id="R693b4bcc1af74237"/>
    <p:sldId xmlns:r="http://schemas.openxmlformats.org/officeDocument/2006/relationships" id="263" r:id="Rb8845d5055fc4d11"/>
    <p:sldId xmlns:r="http://schemas.openxmlformats.org/officeDocument/2006/relationships" id="264" r:id="R4e95ca77ca2a49ac"/>
    <p:sldId xmlns:r="http://schemas.openxmlformats.org/officeDocument/2006/relationships" id="265" r:id="R72a277b5afd04c9c"/>
    <p:sldId xmlns:r="http://schemas.openxmlformats.org/officeDocument/2006/relationships" id="266" r:id="R673c59da99ae45e0"/>
    <p:sldId xmlns:r="http://schemas.openxmlformats.org/officeDocument/2006/relationships" id="267" r:id="R2ef64970cefe4e9b"/>
    <p:sldId xmlns:r="http://schemas.openxmlformats.org/officeDocument/2006/relationships" id="268" r:id="Rc7473ec40ac84b9a"/>
    <p:sldId xmlns:r="http://schemas.openxmlformats.org/officeDocument/2006/relationships" id="269" r:id="R7fb46df0c766486b"/>
    <p:sldId xmlns:r="http://schemas.openxmlformats.org/officeDocument/2006/relationships" id="270" r:id="R4419463cb15e4036"/>
    <p:sldId xmlns:r="http://schemas.openxmlformats.org/officeDocument/2006/relationships" id="271" r:id="Rd9c157e7072643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5e574133ae47a5" /><Relationship Type="http://schemas.openxmlformats.org/officeDocument/2006/relationships/slideMaster" Target="/ppt/slideMasters/slideMaster1.xml" Id="Rfd73d2480a01499b" /><Relationship Type="http://schemas.openxmlformats.org/officeDocument/2006/relationships/notesMaster" Target="/ppt/notesMasters/notesMaster1.xml" Id="R537ae90a545a43cd" /><Relationship Type="http://schemas.openxmlformats.org/officeDocument/2006/relationships/presProps" Target="/ppt/presProps.xml" Id="R082edfd1a4634359" /><Relationship Type="http://schemas.openxmlformats.org/officeDocument/2006/relationships/tableStyles" Target="/ppt/tableStyles.xml" Id="Rf29f2e776c454757" /><Relationship Type="http://schemas.openxmlformats.org/officeDocument/2006/relationships/slide" Target="/ppt/slides/slide1.xml" Id="Rf367fd2d98e64d41" /><Relationship Type="http://schemas.openxmlformats.org/officeDocument/2006/relationships/slide" Target="/ppt/slides/slide2.xml" Id="R056c643cc6d04668" /><Relationship Type="http://schemas.openxmlformats.org/officeDocument/2006/relationships/slide" Target="/ppt/slides/slide3.xml" Id="R4f373a845fed4d61" /><Relationship Type="http://schemas.openxmlformats.org/officeDocument/2006/relationships/slide" Target="/ppt/slides/slide4.xml" Id="Rc93591b230224ca3" /><Relationship Type="http://schemas.openxmlformats.org/officeDocument/2006/relationships/slide" Target="/ppt/slides/slide5.xml" Id="R24eadaa91a904587" /><Relationship Type="http://schemas.openxmlformats.org/officeDocument/2006/relationships/slide" Target="/ppt/slides/slide6.xml" Id="Re50f51c356e44d56" /><Relationship Type="http://schemas.openxmlformats.org/officeDocument/2006/relationships/slide" Target="/ppt/slides/slide7.xml" Id="R693b4bcc1af74237" /><Relationship Type="http://schemas.openxmlformats.org/officeDocument/2006/relationships/slide" Target="/ppt/slides/slide8.xml" Id="Rb8845d5055fc4d11" /><Relationship Type="http://schemas.openxmlformats.org/officeDocument/2006/relationships/slide" Target="/ppt/slides/slide9.xml" Id="R4e95ca77ca2a49ac" /><Relationship Type="http://schemas.openxmlformats.org/officeDocument/2006/relationships/slide" Target="/ppt/slides/slide10.xml" Id="R72a277b5afd04c9c" /><Relationship Type="http://schemas.openxmlformats.org/officeDocument/2006/relationships/slide" Target="/ppt/slides/slide11.xml" Id="R673c59da99ae45e0" /><Relationship Type="http://schemas.openxmlformats.org/officeDocument/2006/relationships/slide" Target="/ppt/slides/slide12.xml" Id="R2ef64970cefe4e9b" /><Relationship Type="http://schemas.openxmlformats.org/officeDocument/2006/relationships/slide" Target="/ppt/slides/slide13.xml" Id="Rc7473ec40ac84b9a" /><Relationship Type="http://schemas.openxmlformats.org/officeDocument/2006/relationships/slide" Target="/ppt/slides/slide14.xml" Id="R7fb46df0c766486b" /><Relationship Type="http://schemas.openxmlformats.org/officeDocument/2006/relationships/slide" Target="/ppt/slides/slide15.xml" Id="R4419463cb15e4036" /><Relationship Type="http://schemas.openxmlformats.org/officeDocument/2006/relationships/slide" Target="/ppt/slides/slide16.xml" Id="Rd9c157e7072643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8adf704f534e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5294bc19b24511" /><Relationship Type="http://schemas.openxmlformats.org/officeDocument/2006/relationships/notesMaster" Target="/ppt/notesMasters/notesMaster1.xml" Id="Re7c4f4c8a0fd40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40e988c5c94d46" /><Relationship Type="http://schemas.openxmlformats.org/officeDocument/2006/relationships/notesMaster" Target="/ppt/notesMasters/notesMaster1.xml" Id="Rf4bbfabfab6a49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3fc0937c334b4b" /><Relationship Type="http://schemas.openxmlformats.org/officeDocument/2006/relationships/notesMaster" Target="/ppt/notesMasters/notesMaster1.xml" Id="R36e6f216b2c54c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f15047d0fa459b" /><Relationship Type="http://schemas.openxmlformats.org/officeDocument/2006/relationships/notesMaster" Target="/ppt/notesMasters/notesMaster1.xml" Id="Rc48156abb2554d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c3b0dd4afb496c" /><Relationship Type="http://schemas.openxmlformats.org/officeDocument/2006/relationships/notesMaster" Target="/ppt/notesMasters/notesMaster1.xml" Id="R2ceb669a848944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bc11fa9db14f49" /><Relationship Type="http://schemas.openxmlformats.org/officeDocument/2006/relationships/notesMaster" Target="/ppt/notesMasters/notesMaster1.xml" Id="Rb1e3db89ff2445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94f22c4d8848c5" /><Relationship Type="http://schemas.openxmlformats.org/officeDocument/2006/relationships/notesMaster" Target="/ppt/notesMasters/notesMaster1.xml" Id="Ra834c6f124a540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b24c15cac74fa9" /><Relationship Type="http://schemas.openxmlformats.org/officeDocument/2006/relationships/notesMaster" Target="/ppt/notesMasters/notesMaster1.xml" Id="R7b6a8aab61dd4c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0b20a77add43af" /><Relationship Type="http://schemas.openxmlformats.org/officeDocument/2006/relationships/notesMaster" Target="/ppt/notesMasters/notesMaster1.xml" Id="Rc3b5a8b83b674e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2befa1c60549a3" /><Relationship Type="http://schemas.openxmlformats.org/officeDocument/2006/relationships/notesMaster" Target="/ppt/notesMasters/notesMaster1.xml" Id="R934de0d0b61e49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2df26d46094b3d" /><Relationship Type="http://schemas.openxmlformats.org/officeDocument/2006/relationships/notesMaster" Target="/ppt/notesMasters/notesMaster1.xml" Id="Ref76379cad424d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6b719747ba4ba9" /><Relationship Type="http://schemas.openxmlformats.org/officeDocument/2006/relationships/notesMaster" Target="/ppt/notesMasters/notesMaster1.xml" Id="R38e7855d60df44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fecc9a05034ac0" /><Relationship Type="http://schemas.openxmlformats.org/officeDocument/2006/relationships/notesMaster" Target="/ppt/notesMasters/notesMaster1.xml" Id="R2f72c437481b4c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ac530a9a484cee" /><Relationship Type="http://schemas.openxmlformats.org/officeDocument/2006/relationships/notesMaster" Target="/ppt/notesMasters/notesMaster1.xml" Id="Rccb0440743c84a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c15e99d0314c05" /><Relationship Type="http://schemas.openxmlformats.org/officeDocument/2006/relationships/notesMaster" Target="/ppt/notesMasters/notesMaster1.xml" Id="Ra3a421b5b49449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d1d330f55449b9" /><Relationship Type="http://schemas.openxmlformats.org/officeDocument/2006/relationships/notesMaster" Target="/ppt/notesMasters/notesMaster1.xml" Id="R2011beae8ee04c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封面。视觉参考 Headspace 式明亮、轻松、涂鸦感，但使用原创插画，不使用任何品牌文字或标志。开场说明：今天看完视频后，核心是 Practice。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说明整堂课的节奏：视频建立共同语言，Practice 建立真实体验，分享和 Mentoring 帮助落地到日常。不要把时间全部花在讲理论上。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这一页用于解释为什么视频后要马上练。正念能力是在练习中形成的，不是靠理解形成的。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承接上一课：意义回答为什么而做；正念回答我如何回到当下去做。没有正念，意义容易变成焦虑未来；没有意义，正念可能停在放松体验。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 B 站 BV1Lu4y1N7oW P4 正念之路。建议播放前给大家这 4 个问题，提醒只抓关键句，不做完整笔记。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总结视频 Summary：正念是当下觉察；每个人都可以练；非正式练习通过日常活动进行；关键是重复。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逐条说明：单一对象、回到专注、温柔呼吸、少评判。提醒：不是保持专注，而是走神后回来。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进入正式练习前，要降低大家焦虑：不追求没有念头，不强迫闭眼，身体不舒服可以调整。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这页是主持人提示页，也可以给学员看。按坐姿、呼吸、回来、身体扫描、收束五段带领。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3-4 人一组，8-10 分钟。提醒不评价、不分析、不强迫隐私。鼓励借鉴别人有用的方法。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说明非正式正念：日常活动中保持一点觉察。强调关键是固定触发器和重复，而不是练习很长时间。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如果现场有水，用这一页带 3 分钟正念喝水。没有水也可以换成正念拿起手机、正念摸杯子。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 Mentoring 规则：A 说，B 问；B 不给建议，只问问题；然后交换。目标是产出一个 24 小时可执行承诺。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课后使用网页记录 21 天练习。第一周回到当下，第二周看见情绪，第三周把正念带入生活。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这页向学员说明课后如何使用网页：填写姓名，选择正念之路，进入 Day 练习，填写当下觉察和明日触发器，完成后可导出 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收束时不要再加入新理论，只让每个人确定一个 24 小时触发器。提醒：不用追求平静，只要愿意回来一次。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9cb6875cf46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6f29a41b384cac" /><Relationship Type="http://schemas.openxmlformats.org/officeDocument/2006/relationships/slideLayout" Target="/ppt/slideLayouts/slideLayout1.xml" Id="R090b98a1519d41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0b98a1519d41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af87e11e84e54" /><Relationship Type="http://schemas.openxmlformats.org/officeDocument/2006/relationships/image" Target="/ppt/media/image.png" Id="Rbf89a4d0b7a443e3" /><Relationship Type="http://schemas.openxmlformats.org/officeDocument/2006/relationships/notesSlide" Target="/ppt/notesSlides/notesSlide1.xml" Id="R5f52ccb0dd2145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b1c4dd52440c2" /><Relationship Type="http://schemas.openxmlformats.org/officeDocument/2006/relationships/notesSlide" Target="/ppt/notesSlides/notesSlide2.xml" Id="Ra526f7e2f31442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784994bb2410c" /><Relationship Type="http://schemas.openxmlformats.org/officeDocument/2006/relationships/notesSlide" Target="/ppt/notesSlides/notesSlide3.xml" Id="Rea6404a7e67248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450c190d145b0" /><Relationship Type="http://schemas.openxmlformats.org/officeDocument/2006/relationships/notesSlide" Target="/ppt/notesSlides/notesSlide4.xml" Id="R5f8213f44da946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034866fb64384" /><Relationship Type="http://schemas.openxmlformats.org/officeDocument/2006/relationships/notesSlide" Target="/ppt/notesSlides/notesSlide5.xml" Id="Rc804afe92e2348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f4482b88b4747" /><Relationship Type="http://schemas.openxmlformats.org/officeDocument/2006/relationships/notesSlide" Target="/ppt/notesSlides/notesSlide6.xml" Id="R43fc51bb369741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3bf11456a4b5b" /><Relationship Type="http://schemas.openxmlformats.org/officeDocument/2006/relationships/notesSlide" Target="/ppt/notesSlides/notesSlide7.xml" Id="R5510ab8fb05b44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6f5954f6b4b00" /><Relationship Type="http://schemas.openxmlformats.org/officeDocument/2006/relationships/notesSlide" Target="/ppt/notesSlides/notesSlide8.xml" Id="R64ae5007efa645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9cec152884448" /><Relationship Type="http://schemas.openxmlformats.org/officeDocument/2006/relationships/notesSlide" Target="/ppt/notesSlides/notesSlide9.xml" Id="R2f3f5beca57a48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9e22a807a4589" /><Relationship Type="http://schemas.openxmlformats.org/officeDocument/2006/relationships/notesSlide" Target="/ppt/notesSlides/notesSlide10.xml" Id="Rab17d7edc20446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ac16610164845" /><Relationship Type="http://schemas.openxmlformats.org/officeDocument/2006/relationships/notesSlide" Target="/ppt/notesSlides/notesSlide11.xml" Id="Rd29f4e71b55440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c7a33d23e403a" /><Relationship Type="http://schemas.openxmlformats.org/officeDocument/2006/relationships/notesSlide" Target="/ppt/notesSlides/notesSlide12.xml" Id="R4cd353acee7a46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e8a1475004eff" /><Relationship Type="http://schemas.openxmlformats.org/officeDocument/2006/relationships/notesSlide" Target="/ppt/notesSlides/notesSlide13.xml" Id="Refe8a3c816f443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ceaafd4b04141" /><Relationship Type="http://schemas.openxmlformats.org/officeDocument/2006/relationships/notesSlide" Target="/ppt/notesSlides/notesSlide14.xml" Id="R708b43fb5a6246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f653fb0e7404f" /><Relationship Type="http://schemas.openxmlformats.org/officeDocument/2006/relationships/notesSlide" Target="/ppt/notesSlides/notesSlide15.xml" Id="Re4704e7d11d643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a5e7fa66a4cab" /><Relationship Type="http://schemas.openxmlformats.org/officeDocument/2006/relationships/image" Target="/ppt/media/image2.png" Id="Ra8fda384efe4485f" /><Relationship Type="http://schemas.openxmlformats.org/officeDocument/2006/relationships/notesSlide" Target="/ppt/notesSlides/notesSlide16.xml" Id="Rf4e6f8ca96ec49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9a4d0b7a443e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ED837-0B16-472D-870C-BD15AA95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5810250" cy="3790950"/>
          </a:xfrm>
          <a:prstGeom xmlns:a="http://schemas.openxmlformats.org/drawingml/2006/main" prst="roundRect">
            <a:avLst>
              <a:gd name="adj" fmla="val 8543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5EB8C-F9B9-4F4B-9CD3-A1D865D7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001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7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57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正念之路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12DA3-89DD-40A7-96B1-B4E57FDE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F8A00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550" b="1">
                <a:solidFill>
                  <a:srgbClr val="FF8A00"/>
                </a:solidFill>
                <a:latin typeface="Arial Rounded MT Bold"/>
                <a:ea typeface="Arial Rounded MT Bold"/>
                <a:cs typeface="Arial Rounded MT Bold"/>
              </a:rPr>
              <a:t>视频之后，进入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7F79E-D0D1-488E-9970-F71CED1A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90 分钟课程设计：正式 Mindful Meditation + 非正式正念 Mentoring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7BF64-6AD0-4D58-B9D5-7CE48EB0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1526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9BBD0-2480-4F6A-8B99-31F1F3BA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10-15 分钟正式练习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70DC7-4E1B-4378-AABF-4CE1EE25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05250"/>
            <a:ext cx="18669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9A688-2B39-4299-82C5-7F09317E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005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75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21 天网页记录</a:t>
            </a:r>
          </a:p>
        </p:txBody>
      </p:sp>
    </p:spTree>
    <p:extLst>
      <p:ext uri="{BB962C8B-B14F-4D97-AF65-F5344CB8AC3E}">
        <p14:creationId xmlns:p14="http://schemas.microsoft.com/office/powerpoint/2010/main" val="699458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20406A-C65A-4D25-8471-83E879A4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90626-F1CA-48F2-9108-68A435DF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91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43255-0BC1-406C-A006-63BCD3E7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962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2706A-A1A2-416C-B020-097CD138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67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2BCF7-FAFE-4E3C-A15D-F084723C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53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F7204-D21F-4DD2-89C1-2E05681C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56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D30EE-0771-4AC1-A157-ACBDCD60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876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5AD5B-1589-454F-AD6D-ED733599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95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07651-D564-42A1-8BD5-F432C179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257300" cy="7239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BE064-A507-4DC1-AC49-8DDEF156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42950" cy="742950"/>
          </a:xfrm>
          <a:prstGeom xmlns:a="http://schemas.openxmlformats.org/drawingml/2006/main" prst="leftBracke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EEFA7-E2D1-4597-A0BE-72F666ED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8763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3B076-6C90-454C-A3D4-4B154282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191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96C0B-CE30-47A4-867D-3AB1225C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-2095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22C42-B397-4CA1-9285-BDDEDE5F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6BD5D-123C-4DF0-99A3-4D4911C7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CC305-3055-4B1F-9813-D7D3401D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90700"/>
            <a:ext cx="1143000" cy="-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9F6A1-576F-42FC-B997-71773495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85850"/>
            <a:ext cx="4191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EC5E7-FC39-4244-B0A2-914B2EE3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课程主线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33949-7C7F-4B7B-85F7-E65A2602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先看视频，再进入练习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EF18F-9A85-4D6C-8755-179FE5E1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正念课的重点不是信息量，而是让大家真的体验“回来”。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99073-F517-4B2E-B2E4-0DF8E846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103FF-B876-4C41-AC74-C330E64C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正念之路 · 90 分钟 Practice 课程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BB21C7-2424-470D-B642-5014F7C6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DACB52-8381-442B-95E5-E1189A6F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9431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D4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A83A1E-D421-40DB-96F7-10ED93FB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FE91FD-EF59-4D1F-A0F4-1C1D1E9E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136D80-D1E5-4EE7-9D19-90217BED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956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看视频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D2FEEE-F63F-48AD-BF57-4401CBAF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1447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带着 4 个问题看 P4 正念之路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9FAE96-E5A0-4477-AC07-4E1CE366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19431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6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2E327B-2548-4B14-AE04-F8763498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57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AE2687-CE7F-44B0-83BF-462B3E6A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972AD1-99DC-4B52-BE37-D628E9F4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956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抓要点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12DB9-163B-4AE9-8163-D6D8C4B0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09950"/>
            <a:ext cx="1447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当下觉察、人人可练、重复、准则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DC8EF4-238C-4B9D-B391-77E81EC1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86050"/>
            <a:ext cx="19431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67AC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C23EF4-0884-44E7-BCB5-D5D6B8D5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57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84BBA2-24DD-4805-850D-34065809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14917E-31DB-446D-B10E-FB89816E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正式练习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07B62C-EC1D-4554-BB64-4D1172D5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09950"/>
            <a:ext cx="1447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10-15 分钟 Mindful Meditation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E34ED2-FDD3-4736-A6AD-2278D251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9431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ACD7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D55844-2244-4427-BA18-70E5F62D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57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CED1AE-139E-43A4-BC5C-8E2135DC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BA64C9-51A9-456D-8069-B853950D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956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分享体验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723F95-9FBE-4549-88F6-6B5CA7C1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09950"/>
            <a:ext cx="1447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3-4 人小组说出真实观察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6A4521-46D4-4B9F-98FD-AD2F567F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19431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C77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BE2243-33C5-459A-B507-E025C3C2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5E4FC1-E4BC-491C-B6D8-D588A0F9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C2A0FC-527A-4086-9021-067817CC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956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日常落地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5A9EB1-1987-44CF-8F10-E7419DDA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09950"/>
            <a:ext cx="1447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非正式正念 + 同伴 Mentoring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7500F7-506A-448A-8443-040FE62D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62550"/>
            <a:ext cx="819150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0EF6DD-132B-471D-984A-BD0D662C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72100"/>
            <a:ext cx="7543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今晚的设计原则：少讲 10 分钟，多练 10 分钟。</a:t>
            </a:r>
          </a:p>
        </p:txBody>
      </p:sp>
    </p:spTree>
    <p:extLst>
      <p:ext uri="{BB962C8B-B14F-4D97-AF65-F5344CB8AC3E}">
        <p14:creationId xmlns:p14="http://schemas.microsoft.com/office/powerpoint/2010/main" val="6488847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B65EC9-FA97-44C9-BCAC-00DBA0D0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3096D-23FA-4912-94A3-90C72F7F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A7CE5-9C35-4746-8C76-18E4770B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962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CFE56-0C23-4B9E-8404-38AAF5AA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64C86-74C0-47F1-93B6-977245F1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53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50702-111F-42B8-B2B6-05601744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56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F0498-3CDB-4262-B64F-4FDE659B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76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F01E9-47CA-4CB5-9AFB-E1A2D7D2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95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BF0A5-84A9-4B15-AC93-75592CAA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257300" cy="7239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E95E7-8337-4D7F-BB02-B936AC43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42950" cy="742950"/>
          </a:xfrm>
          <a:prstGeom xmlns:a="http://schemas.openxmlformats.org/drawingml/2006/main" prst="leftBracke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0D333-3D32-46F0-B289-584C4201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8763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C89BD-9046-4E64-AEC7-9C524640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191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A9A6B-266C-4E97-B42D-F290797B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-2095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87EB0-1B68-4F05-BB26-79EAB7A9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2E91D-A692-452A-BE63-1A159B5E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9F65D-151E-43BA-BB9A-739D06B0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90700"/>
            <a:ext cx="1143000" cy="-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F6F90-3298-4EBE-8E4A-2E318E24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85850"/>
            <a:ext cx="4191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6EB21-8878-4E57-BD14-D1852ED9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为什么要 Practice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42048-832F-4B3F-A140-E89DE1EC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正念不是听懂，而是练习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4C9F1-CA3F-4084-BEED-72E8D30B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知道概念不难，难的是在走神、情绪、自动反应里愿意回来。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819C6-0456-46A1-8585-0468520D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77EF90-40D0-4037-8C8F-5F27D7FB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正念之路 · 90 分钟 Practice 课程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0AB2F-5C74-426C-BBBB-9F8E8758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3A34F0-FF5C-40CC-8C3F-2DF1898C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3048000" cy="1924050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6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01B374-7894-4B03-856E-A19F12FB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527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听懂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0553FE-5DB5-4923-9ED5-0B4E1FCF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48050"/>
            <a:ext cx="2514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我知道正念是当下觉察，也知道练习有好处。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B0828F-B5A0-4537-8EE7-7EA55598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57575"/>
            <a:ext cx="9906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4BA4C4-B1AE-4FB2-93AA-B2A06908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3048000" cy="1924050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67A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B32AE0-0832-4C58-A69D-51DEA57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练到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30E8B7-9D99-4072-89F2-BD4BEF26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48050"/>
            <a:ext cx="2514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我在走神之后，真的有一次把自己带回来了。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ECBB6C-D0EF-45BF-96AD-35EE5457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57575"/>
            <a:ext cx="7620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CF975D-A1F4-451B-B432-4B179B5C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24150"/>
            <a:ext cx="952500" cy="19240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ACD7B"/>
          </a:solidFill>
          <a:ln xmlns:a="http://schemas.openxmlformats.org/drawingml/2006/main" w="19050">
            <a:solidFill>
              <a:srgbClr val="2ACD7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1B5C7-C91F-4728-A47F-1737CBAC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527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活出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0AD11F-0D09-422C-A6BF-BEE68306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48050"/>
            <a:ext cx="419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日常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412D62-EC17-4902-B6BE-D1BFED22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9144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F664F9-2EC9-4D0A-8C4C-E9063666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67350"/>
            <a:ext cx="8496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正念是一种能力：一次次发现离开，然后一次次温柔地回来。</a:t>
            </a:r>
          </a:p>
        </p:txBody>
      </p:sp>
    </p:spTree>
    <p:extLst>
      <p:ext uri="{BB962C8B-B14F-4D97-AF65-F5344CB8AC3E}">
        <p14:creationId xmlns:p14="http://schemas.microsoft.com/office/powerpoint/2010/main" val="13288042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4BB6C7-345C-4E87-A6BA-7E07BB0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7316B-A9F0-430D-9C34-F997C343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91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213A2-7D25-44CE-8769-9D5943E9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962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FC449-D61D-4105-8BF8-092C37F6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7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28D0C-299D-4532-84BD-A3D9BBC4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553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6ACE5-7BE7-4F5F-A239-B317C636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56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405F0-6246-40FA-B126-CD3143A0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876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18B1C-8ADA-4B76-B36D-C981A492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95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F17F3-52EC-415E-BC1A-D0798540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257300" cy="7239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0E8B6-B8A8-4E66-82B1-8B12A201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42950" cy="742950"/>
          </a:xfrm>
          <a:prstGeom xmlns:a="http://schemas.openxmlformats.org/drawingml/2006/main" prst="leftBracke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A5BDB-6915-4043-8458-60E38B77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8763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C5425-5417-4B0A-8ED1-655C601F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191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824ED-A712-455D-BFDF-DA3B733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-2095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025D3-9F6D-482E-A0DB-16BDD7E9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91160-50E1-4B4D-957C-13D4DCFE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11012-5946-40B8-9FB6-CE5E77B1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90700"/>
            <a:ext cx="1143000" cy="-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8B416-699A-46A4-B60F-8E638E57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85850"/>
            <a:ext cx="4191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2D38B-D266-4634-B7C6-763F5A36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承接意义之路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748E24-8413-4E30-ACF1-E69DAFC1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意义给方向，正念给当下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36CF0-FDDA-497A-88DB-6A351A5C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两条路不是两个任务，而是一组精神福祉练习。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CA751-8A47-4832-B252-BDF53836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E73BE-5C15-488A-A20F-960BA281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正念之路 · 90 分钟 Practice 课程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6D4A1-AB8C-450F-8806-00BF9935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594B0-2103-4C12-8C32-0D5B0E4F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3048000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D4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407A7-CE83-4B97-B2C4-098553C9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意义之路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F454DB-A297-417A-BBA9-F0851C10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2514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我为什么而做？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我想服务什么价值？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B52910-719C-4FEB-B53D-501E671D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9144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BA6A48-0BCD-48B1-8DBC-7F8DA5DA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81300"/>
            <a:ext cx="3048000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6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8FAC11-5C2D-46CA-9DD2-AF070BEC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099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正念之路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D1A437-08E0-4B01-A1A0-82F778A4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05200"/>
            <a:ext cx="2514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我此刻在哪里？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我如何带着觉察去做？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958CAD-5B1F-40AF-AEE1-62459D0D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90900"/>
            <a:ext cx="7620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79231F-5162-4FFC-A04C-20134F85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81300"/>
            <a:ext cx="1066800" cy="17145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19050">
            <a:solidFill>
              <a:srgbClr val="FF8A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69C8B7-E96F-4C70-B2F2-4A495FB0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099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9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精神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9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福祉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6F7374-9792-451F-B60E-0F4CDBF5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05200"/>
            <a:ext cx="53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方向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落地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EB2AD4-65AE-4B1C-9DB4-E0FC99FB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211DA4-EC6D-4A44-BB1C-8E3E39B5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29250"/>
            <a:ext cx="7543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如果意义是方向盘，正念就是此刻握住方向盘的那只手。</a:t>
            </a:r>
          </a:p>
        </p:txBody>
      </p:sp>
    </p:spTree>
    <p:extLst>
      <p:ext uri="{BB962C8B-B14F-4D97-AF65-F5344CB8AC3E}">
        <p14:creationId xmlns:p14="http://schemas.microsoft.com/office/powerpoint/2010/main" val="1619405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59CDC0-1401-4B56-8C9F-F704B901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02EE1-6921-491F-B578-59271AE9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6DA4A-C665-41A0-BDB4-0C755D64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962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C2D31-7F43-4E2F-8246-798FCCF3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35FC6-24CF-4AAC-903B-2834469C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53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1401D-A21C-4F5C-B3E9-A6D36B99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7B905-69F2-4F07-B2B0-6FA744F6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876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2C109-C5DB-48CF-9D69-71A0F03D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95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9CD2E-0E47-46D6-810C-24470F2A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257300" cy="7239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8D1F1-5DFA-407D-9A33-7BEE1DCF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42950" cy="742950"/>
          </a:xfrm>
          <a:prstGeom xmlns:a="http://schemas.openxmlformats.org/drawingml/2006/main" prst="leftBracke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603C8-D9D6-493A-B4B2-5CCC5730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8763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A164A-CA19-42EF-A9B1-BF79D3E0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191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47F7C-66F0-4B44-9694-4C155D45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-2095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3FAD1-4A71-4D4C-B62E-5F3C215D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35D36-2126-4758-B2DC-0BA3DAA2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FD969-EBC5-49CB-AB9B-8B4AF744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90700"/>
            <a:ext cx="1143000" cy="-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AA894-7CE2-4B23-A127-9FDB064C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85850"/>
            <a:ext cx="4191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7FDE8-03A0-40AB-A5C9-D46B736F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视频观看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4F4B8-FB54-41D6-9E5D-68170B37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带着 4 个问题看视频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721BC1-D3FC-43F5-BA4E-C276AD7E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看视频不是为了记住所有内容，而是为后面的 Practice 找到入口。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A23C1-F6A0-40A1-8864-81682EB2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EDEF7-E570-438F-BC79-F1BA8414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正念之路 · 90 分钟 Practice 课程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65F021-0FB5-4085-8C13-8CB06A34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88110-C0F7-45CD-8B2E-8EB15CDF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4476750" cy="2990850"/>
          </a:xfrm>
          <a:prstGeom xmlns:a="http://schemas.openxmlformats.org/drawingml/2006/main" prst="roundRect">
            <a:avLst>
              <a:gd name="adj" fmla="val 9554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9EBF8C-A9DC-4D92-9545-161EA2D7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28950"/>
            <a:ext cx="1638300" cy="163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8980D2-D872-47F6-8D70-729AF772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09950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40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40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895FE7-58B7-4EE2-8B54-8A5B449D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196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 站 P4：正念之路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422288-88F7-4A78-AC7E-F4ABFEFA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8D726F-6CB3-441D-B1CF-B62A91B6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72415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正念是什么？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50EA8A-CE0E-4DF8-BE2E-584DB67C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91DD86-4246-4590-9292-C01C2529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27660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正式正念和非正式正念有什么区别？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4F8D60-34AA-46F1-AFD5-D9355540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B4A7F2-55F3-4C46-B2BC-D6905C55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82905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正念练习有哪些关键准则？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6F67B2-7820-4F75-A81E-A928E06E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ED6676-7CA6-4A63-B817-6B3E77FB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8150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哪一句话最能帮助你开始练习？</a:t>
            </a:r>
          </a:p>
        </p:txBody>
      </p:sp>
    </p:spTree>
    <p:extLst>
      <p:ext uri="{BB962C8B-B14F-4D97-AF65-F5344CB8AC3E}">
        <p14:creationId xmlns:p14="http://schemas.microsoft.com/office/powerpoint/2010/main" val="670623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3BC219-9AA0-4E92-89E6-8B29707C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7CCC6-951E-4B94-9063-360570E4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1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D61D9-B49D-44E7-B307-CD2C3E9E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962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68773-007A-4782-B01D-8D62AE63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7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05803-EFCE-40BA-B6CC-1575FA6C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53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78EBC-217F-4075-B49F-81309B9C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56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D661C-56E0-4BD7-94EC-AB3634EE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876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F7DDE-205C-41E0-8506-5590166A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95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61371-51DA-4A7F-BC0A-B7B25ACA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257300" cy="7239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F5E22-9940-46F3-97A3-C06CA12C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42950" cy="742950"/>
          </a:xfrm>
          <a:prstGeom xmlns:a="http://schemas.openxmlformats.org/drawingml/2006/main" prst="leftBracke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DC7E9-89D5-40FB-91B5-92A628AF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8763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C565D-9608-410A-BF17-BBDC4FD9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191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090D9-B644-474D-A667-E02E133C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-2095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37FA1-77C8-49F3-B098-AF438A92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0D89E-337E-49FC-AFD0-2C5C0823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30B45-36EF-4F16-807A-42B944A4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90700"/>
            <a:ext cx="1143000" cy="-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1390D-A7C5-476F-9023-1E595083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85850"/>
            <a:ext cx="4191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8EFC1-7498-424B-BFCE-DCD385C4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视频要点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F14A3-C297-490D-81DD-8DF8AB23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4 句话进入 Practice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3E7FD-E725-4A02-A742-1E5C8455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看完视频后，用最少的理论把大家带到练习现场。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825C0-6CFA-4A96-905C-43CEEAAD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451B16-87AD-4169-913F-9F15414B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正念之路 · 90 分钟 Practice 课程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06292-5905-48C7-9B1A-334E3A4F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CCFD1-B9F5-4FF3-9555-120A4C72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36220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D4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924AEC-79F6-437B-8C72-6000DB4A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6FCBBF-F446-4A0A-8369-8EAC3B1D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76127B-30A5-4BFF-B335-91B57B89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当下觉察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46FB61-F476-45DF-9339-583945E6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1866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正念是 present-moment awareness：知道此刻正在发生什么。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278368-424D-48D9-9AB9-3C0BCFEF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236220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6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D27568-6779-4AB7-8000-7C503103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122FB9-0D74-4588-9CA1-F17152CF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14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9FA5EE-BE95-4A25-A122-58BC87DD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人人可练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E35131-117F-4F78-8DA5-E7916BDD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71850"/>
            <a:ext cx="1866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这不是少数人的修行能力，而是每个人都能训练的基础能力。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A631C9-7C7B-49A3-96BB-79176AD1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236220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ACD7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70C8BA-E590-4AE7-A54F-617A3AF2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AF8744-51E6-4DC9-8BE8-8B073793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CC706F-7D58-4C6C-8F96-CCAB78AB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57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日常也算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39110E-093E-4507-B2E2-5B33CF21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1866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走路、吃饭、刷牙、开会前停顿，都可以成为练习。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B6E637-AF36-4831-B487-7275B147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36220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67AC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D362E2-A095-4267-9E5F-E19B620A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19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1D5B5F-291D-4F75-8739-FA78C013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7EB5C4-6CCF-4F57-BD99-73D26EDE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57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关键重复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7B1329-5603-4F85-B89C-3E3CB8EE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71850"/>
            <a:ext cx="1866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不是一次练得多完美，而是一次又一次回来。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53F46B-686A-4C7D-A572-B79F6633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102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接下来不继续讲理论，直接进入正式正念练习。</a:t>
            </a:r>
          </a:p>
        </p:txBody>
      </p:sp>
    </p:spTree>
    <p:extLst>
      <p:ext uri="{BB962C8B-B14F-4D97-AF65-F5344CB8AC3E}">
        <p14:creationId xmlns:p14="http://schemas.microsoft.com/office/powerpoint/2010/main" val="20457382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0AE22B-6734-41D7-A84A-8F07EC59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15F83-18C1-4D97-A7E8-2FB4149C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C0D47-6FA7-4DEC-B5F6-4A36B7DD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962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31B48-36E4-47B4-83C0-D8353D3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19EE2-EEF6-4EA7-9C85-4CBC3AB4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53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169BD-F0C5-4524-958E-C79C7D4D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56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1FA65-5CDA-4913-9F63-589DAF91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76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4229F-AE9D-447E-A6CD-89E8CDF2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95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7A240-63F2-4785-AAE3-FFAB861A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257300" cy="7239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770FF-F5ED-4A67-9CE9-95F8C1EC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42950" cy="742950"/>
          </a:xfrm>
          <a:prstGeom xmlns:a="http://schemas.openxmlformats.org/drawingml/2006/main" prst="leftBracke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42310-27B8-4906-BB4D-0DA3433A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8763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11F89-CB6F-401F-BEA3-0C1F00AB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191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53F4A-CEF3-437E-A20D-89614C5D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-2095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86AE0-EDBE-4254-BF12-8F12959D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39A0D-62FC-48F3-957B-0CBCEC1D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E6E7F-D048-4534-A9EC-D871479F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90700"/>
            <a:ext cx="1143000" cy="-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B4307-85B6-4EA8-BA68-2384BBBF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85850"/>
            <a:ext cx="4191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7AF32-DBB8-4AD4-90F5-30C5A0A7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练习准则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0469F-12FD-41FC-94AF-FAF4888C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四个关键提醒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B82D1-9C4B-479E-A556-D68EA3B4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正式或非正式练习都适用：简单，但需要重复。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63EC4-76B8-4176-8F0B-1F2F52E7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0944B-9A30-41D5-828A-E7D397E9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正念之路 · 90 分钟 Practice 课程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221F7-2635-4F80-921F-5CDA126D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55F8E-BB3B-4567-AE78-BB9D9739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6700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D33FD-0858-4DE1-A101-E79B08EB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7180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9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71D719-F588-4B04-839B-3D26E82B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单一对象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B13308-C954-4BC1-9DA7-1AB74919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让心先停在一个对象上：呼吸、脚底、声音。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CA0B2A-42C1-44DC-8594-2F3CEC39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6700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385AFB-A2B0-434E-996D-9CD81ACB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7180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9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FB1B38-FCFF-42D3-92A5-3A747193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386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回到专注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C98952-550A-44C7-8E7F-9156F3FD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9580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走神不是失败，发现后带回来就是练习。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BF3CE2-C6D3-431D-9790-B097ADBB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6700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59B96E-6878-40AE-A6BE-E28D2733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7180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9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3CBE30-1210-45C3-B51A-F8C9A830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温柔呼吸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209D42-8542-4C6B-86CE-A1833168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慢一点、轻一点、深一点，但不强迫。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1F4CEE-5A2B-4C0D-808D-F5110395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6700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ECE1D0-E3C4-4178-BEBA-F15D6F49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7180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9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5C4295-127A-49B5-85C1-2F42193F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386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少评判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DD8127-98AF-4344-88E3-4EC6EC29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9580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不评价自己练得好不好，先看见。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77383A-CE56-43BC-B3F1-BAE8C56D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课堂语言：不是“我要专注”，而是“我可以回来”。</a:t>
            </a:r>
          </a:p>
        </p:txBody>
      </p:sp>
    </p:spTree>
    <p:extLst>
      <p:ext uri="{BB962C8B-B14F-4D97-AF65-F5344CB8AC3E}">
        <p14:creationId xmlns:p14="http://schemas.microsoft.com/office/powerpoint/2010/main" val="16277716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FB71A-0A1C-4811-8C2C-BA5474FC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5FA1D-ECDE-4C08-A560-30B033BE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91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9A923-880D-439E-947C-CD0CBFD1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962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20FB5-9E19-4BDB-B26E-F6E6F0FD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67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99A55-DAE7-4F42-BCA5-400119A3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53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6B35A-5FC3-4385-8A84-1E14CE92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56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2BB3B-E964-40BA-A43A-32507F16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876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E88E1-AD51-4E7F-91A4-4569742E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95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259D7-E2C7-487D-AEF8-9B41F3F7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257300" cy="7239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1C960-0576-4B11-B3B1-C21B4BEC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42950" cy="742950"/>
          </a:xfrm>
          <a:prstGeom xmlns:a="http://schemas.openxmlformats.org/drawingml/2006/main" prst="leftBracke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9249E-7170-45C9-A791-6F92FC8F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8763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2CC6E-3429-42DD-8E48-39CF95E4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191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E5B24-460F-498A-8C3A-2E56C2CB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-2095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92B68-5DF1-4B74-917F-51704611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00BFA-6932-45D8-9544-3D563A7F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6CDF8-C111-43C6-BDD5-23E3320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90700"/>
            <a:ext cx="1143000" cy="-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3BED7-62A2-46AE-9B9D-AB28CFAA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85850"/>
            <a:ext cx="4191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B4256-3BE2-4F86-A9D9-D51D78CC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Practice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E47F4-B7C4-4DAE-B24A-BBAE9184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正式 Mindful Meditation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D5052-9B33-41E9-9B79-8755D49F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10-15 分钟：坐下来，观察呼吸、身体、念头，然后回来。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0DFDB9-A374-42BA-A345-78F12523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262370-1F73-4E2D-9BE0-6BC1F2B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正念之路 · 90 分钟 Practice 课程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F98C42-425A-46D5-84BB-C3C57FA4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F1D45-8A27-4287-AC22-4CE57315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304800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6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1280A7-CDFD-4F73-95F0-3D6E119B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时间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939F10-31D0-424E-901B-F14E49D6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95650"/>
            <a:ext cx="2514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新手较多：10 分钟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场域稳定：15 分钟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宁可短一点，也不强行拉长。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AAEA74-A554-4994-9882-0556332D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304800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67AC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4706A7-DBFB-4788-8276-602E95FC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03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姿态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195C7-CF7D-400F-A286-9F69A72E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2514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舒服但清醒。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可以闭眼，也可以微微垂眼。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允许调整坐姿。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2E2AB1-736F-4034-ABA2-854CA006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04800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ACD7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166404-E358-46FD-ACC7-CC5FB4D0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安全感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761131-3E79-4027-87AA-B883825B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2514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不追求安静。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不追求没有念头。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走神后回来，就是练习。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001877-081E-4459-AC66-3D9C43FA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38750"/>
            <a:ext cx="883920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1450CC-1952-4AE1-BDD5-7D71D412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48300"/>
            <a:ext cx="819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发现自己走神，不是练习失败，而是练习开始。</a:t>
            </a:r>
          </a:p>
        </p:txBody>
      </p:sp>
    </p:spTree>
    <p:extLst>
      <p:ext uri="{BB962C8B-B14F-4D97-AF65-F5344CB8AC3E}">
        <p14:creationId xmlns:p14="http://schemas.microsoft.com/office/powerpoint/2010/main" val="18907845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45ECA8-8A32-4460-BBB3-79F51EB1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EBF74-A580-4F29-9B8B-43187298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70D5B-1C10-4EFF-9093-03FF66DF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962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CECF2-5A5C-495C-B291-417D10B8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7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D1C96-C73D-4DE4-A2A5-38415AF5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53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1D26C-42B7-4C31-8D58-99BFB748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56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4B3F4-9CF0-427E-9A15-B0F8BB63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876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E019F-0277-45DD-8CB3-E6B98AC4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95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660B3-1C0E-4B3F-9402-6AFF1603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257300" cy="7239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4AE49-3A5D-46CA-A9D1-28ED5C86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42950" cy="742950"/>
          </a:xfrm>
          <a:prstGeom xmlns:a="http://schemas.openxmlformats.org/drawingml/2006/main" prst="leftBracke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F5F6E-C043-454A-9E65-6743031C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8763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02434-C549-413B-B7F3-8B44917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191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36F99-23FA-45DD-B785-EA607729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-2095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082AA-F254-45BB-8634-60D5301F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3143A-2F1F-47E3-A967-6FCBF780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1DB02-6ECA-46A7-8E13-34C643F6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90700"/>
            <a:ext cx="1143000" cy="-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41228-099F-4FDE-A04F-54484E24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85850"/>
            <a:ext cx="4191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96038-97B6-4100-B62A-52483D7C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引导结构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A5395-88D4-4E83-AD41-3709D335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12 分钟怎么带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236870-46C3-4FF1-8BAB-603F0198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用清晰结构支撑安静体验，避免讲太多。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88C1C-BF91-4DC6-AE84-4B2FBD2E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72EF1E-739F-4607-A856-7B5D588F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正念之路 · 90 分钟 Practice 课程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ED80D-72CB-42E1-BD04-78500942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D8216-9011-4AB2-8CA5-C05DA494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99822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D4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2311E1-93A6-47FB-BD48-427BC66D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003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D4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D400"/>
                </a:solidFill>
                <a:latin typeface="PingFang SC"/>
                <a:ea typeface="PingFang SC"/>
                <a:cs typeface="PingFang SC"/>
              </a:rPr>
              <a:t>0-2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F5BEA9-5B94-43FC-9793-449F8472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003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坐姿与身体到场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B69672-281D-479E-A9AF-4D35144D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03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感受脚、椅子、身体重量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6AC618-9C00-47F5-9FEF-7084BDFF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99822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6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66A22-3CED-44C4-857C-1964DDBC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480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6A6F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A6F5"/>
                </a:solidFill>
                <a:latin typeface="PingFang SC"/>
                <a:ea typeface="PingFang SC"/>
                <a:cs typeface="PingFang SC"/>
              </a:rPr>
              <a:t>2-5 min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C10373-B14B-402A-A8CD-7B6D708C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480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呼吸觉察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609917-4AEF-402D-B8F1-824FE188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480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知道自己正在吸气、呼气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C49FAE-8959-443A-8FFF-B19DE6DB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99822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67AC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9E491F-5764-4B9D-9EA5-C2484514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957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67AC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67AC1"/>
                </a:solidFill>
                <a:latin typeface="PingFang SC"/>
                <a:ea typeface="PingFang SC"/>
                <a:cs typeface="PingFang SC"/>
              </a:rPr>
              <a:t>5-8 min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6FA184-0322-409A-94D5-B3BC515A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957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走神后回来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DEA440-3B0E-42CF-A2AB-281D15E0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957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发现念头，轻轻说“回来”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96888C-C61B-449C-96B3-892D156D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99822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ACD7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9DDD17-5D81-4DD7-800E-A0159F05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434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ACD7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ACD7B"/>
                </a:solidFill>
                <a:latin typeface="PingFang SC"/>
                <a:ea typeface="PingFang SC"/>
                <a:cs typeface="PingFang SC"/>
              </a:rPr>
              <a:t>8-10 min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9D9B88-469C-4157-8716-EF8DF632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434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身体扫描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FD4400-F4CA-4209-9336-A7DA2F4F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434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感受肩膀、胸口、腹部、脸部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9DFD9D-BD10-4822-BAA6-DBAB03EF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99822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C77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01B66B-11A3-4D34-A364-3D9877EA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91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9C77C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9C77C8"/>
                </a:solidFill>
                <a:latin typeface="PingFang SC"/>
                <a:ea typeface="PingFang SC"/>
                <a:cs typeface="PingFang SC"/>
              </a:rPr>
              <a:t>10-12 min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376466-1C44-4212-B805-3C9EB3BD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911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扩展觉察并收束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CA00A7-88B1-464A-8C97-AC7EDCD0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911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感受整个身体，慢慢睁眼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E93B7A-78DF-46D6-AF4E-D83D4985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829300"/>
            <a:ext cx="777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练习后不要马上讲道理，只问：刚才你注意到了什么？</a:t>
            </a:r>
          </a:p>
        </p:txBody>
      </p:sp>
    </p:spTree>
    <p:extLst>
      <p:ext uri="{BB962C8B-B14F-4D97-AF65-F5344CB8AC3E}">
        <p14:creationId xmlns:p14="http://schemas.microsoft.com/office/powerpoint/2010/main" val="6830414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6FF68C-F26D-4062-9A46-9B7709BA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9EB97-24A4-4319-9F03-A2A7B6A7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91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398E0-96DE-491A-B506-B11F18DF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962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1E4BE-F9A4-410D-8569-4A36AB34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67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7E090-7ECF-4B14-B97D-C401F228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553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17F0E-A3E6-48D2-8EE8-761A105F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56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37BC2-3645-49CD-96FB-F52B5E07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876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784CA-9FE2-4A33-9EF8-B064EFFB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95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FD2D3-7571-4AD5-B070-C53D8E17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257300" cy="7239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1A6AF-A7D7-4EBD-968F-80D4C070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42950" cy="742950"/>
          </a:xfrm>
          <a:prstGeom xmlns:a="http://schemas.openxmlformats.org/drawingml/2006/main" prst="leftBracke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9FCF9-56C9-4475-8772-435FDB37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8763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C2A33-EC2B-4B24-8DFC-602E0293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191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5738E-E28B-43AA-8509-6FFD959A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-2095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09D27-840F-4FF7-809E-187598B6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63590-50FD-4281-92D0-98FCDF37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F86F3-CB6D-4F79-9390-11F3D15A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90700"/>
            <a:ext cx="1143000" cy="-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A246D-59D5-4A06-AA68-33625313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85850"/>
            <a:ext cx="4191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270FB-D5CE-4FF0-9C50-260DC609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Practice 后分享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1D7622-A82D-4014-8417-A5498DB9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把体验说出来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90358B-88C5-43CB-9378-E07663EC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分享的目的不是评价，而是让大家发现：原来走神很正常。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0930F-EED8-440B-9E18-95C83DD5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64C94-E546-4CF6-9D86-B76A182D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正念之路 · 90 分钟 Practice 课程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0B1FC7-339A-4E73-AE90-634E58AC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C9D667-5753-4FBB-B927-E504C02F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5048250" cy="2914650"/>
          </a:xfrm>
          <a:prstGeom xmlns:a="http://schemas.openxmlformats.org/drawingml/2006/main" prst="roundRect">
            <a:avLst>
              <a:gd name="adj" fmla="val 91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6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0B435E-047D-4E83-BD6F-DC62EFEA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1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小组分享问题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D420CD-8D3F-49B9-8873-415744BA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D9BB48-C653-42A7-A361-519BDDE9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33750"/>
            <a:ext cx="3790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刚才最明显注意到了什么？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DECD0C-4673-4C3A-9E12-3C821C22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EC6856-62EF-49C3-8B77-74E3E71C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790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你有没有走神？怎么回来的？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A80E35-8BB0-46B8-A031-471884AF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7E791A-830C-4FF3-9FC9-E0304234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48150"/>
            <a:ext cx="3790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哪一部分有帮助？哪一部分困难？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A56CD9-30ED-4533-BDEC-F49A505B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4E96F9-0BFF-4988-A7A7-BEDF5FB3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05350"/>
            <a:ext cx="3790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如果缩短到 3 分钟，你愿意在哪里做？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FAB136-EC9E-4917-B15B-613CBDBB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3905250" cy="20955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67AC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9929A5-0A69-4C96-BC7F-135C920D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7655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带领者只守住 3 件事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B26237-3E01-4A52-B09F-A7CF6B96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3371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• 不评价谁练得好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• 不分析别人的情绪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• 不强迫分享隐私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可以分享“我什么都没感觉到”，这也是观察。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A4D5DF-56AC-4528-9696-3345ADD2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关键词：真实比完整重要。</a:t>
            </a:r>
          </a:p>
        </p:txBody>
      </p:sp>
    </p:spTree>
    <p:extLst>
      <p:ext uri="{BB962C8B-B14F-4D97-AF65-F5344CB8AC3E}">
        <p14:creationId xmlns:p14="http://schemas.microsoft.com/office/powerpoint/2010/main" val="9804492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3DD358-B0CE-4A4D-BE5D-2A36BC03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756AE-8F77-4006-BC68-965726FD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DD92F-B875-4491-9A22-DFF0E8C9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962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A040E-5FBE-490F-A8B0-0ECC1690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7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5A805-1A1B-420C-A368-D32020C2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3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29C91-FBFE-44E4-98C3-ECB42F1C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56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9089C-0778-4F58-9FA4-83F23A40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76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3B8E7-C408-46AA-A976-B692FB03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95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DE9B6-BD5D-4C9D-9EB0-575E016E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257300" cy="7239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BD7B3-1931-48F8-B564-6AFB79AB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42950" cy="742950"/>
          </a:xfrm>
          <a:prstGeom xmlns:a="http://schemas.openxmlformats.org/drawingml/2006/main" prst="leftBracke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CAB75-E104-4DB4-94E4-CF234E9E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8763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316FD-77A0-48C0-83BD-FBA02C9C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191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592CB-4C50-4ACB-8F65-FE156291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-2095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AC598-7158-4BE0-A703-5E2053FF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2921C-D240-4CF6-AD9E-FDAC3B9B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879BF-C0BF-4199-B504-F2806CE4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90700"/>
            <a:ext cx="1143000" cy="-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BAA23-FA62-46E4-9D58-F4CEFF08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85850"/>
            <a:ext cx="4191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C7382-485C-4E2D-BFE4-031ECB33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Practice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89A81-AE95-480F-A970-29C44170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非正式正念：把练习放回生活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2C270-3A14-4166-8FB6-3EE4DC50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不是只有坐下来冥想才算正念，日常活动也可以练。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B9182-91F3-4EE5-A393-F69023FD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BAD6E-C1A6-4AE2-BADE-57049DA0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正念之路 · 90 分钟 Practice 课程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7BF093-11B8-4D0B-A5CF-0286BCFE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9FA38-E9D7-4154-A08B-1C2BFCA3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3143250" cy="12001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D4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9B93B8-27D5-4F6E-84AF-214A26A3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吃饭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DA77EA-152F-4784-8509-14DD29B2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前三口不看手机，感受味道、温度、咀嚼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03C743-1BFE-48D3-B2DC-934D67BF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3143250" cy="12001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6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21E02-AB22-4CF9-ABF1-A8541F7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0510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走路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692191-5E7C-42C5-B41A-AED4E00A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0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5 分钟不刷手机，感受脚底触地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CC0340-1FBF-477E-9385-647A0688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3143250" cy="12001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ACD7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2CE634-9D8A-41B5-8D2D-CDD46AD2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开会前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079DC4-EF05-4C4D-B76E-25C14CF3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00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做 3 次呼吸，感受脚底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9AA738-8AE7-4802-8E0F-26501EDB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3143250" cy="12001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67AC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184D43-4B2E-466F-96EC-9F36004F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回复消息前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9DE39D-95B4-4100-ABB9-149261F0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停 3 秒，知道自己的情绪再回复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6B1908-836E-4947-9CB6-0CD6825C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38600"/>
            <a:ext cx="3143250" cy="12001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C77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18789C-6383-4976-AB05-71CD3BC7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陪伴家人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581113-183E-487F-B898-255631A8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听 1 分钟，不急着插话和建议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CA4B5B-4973-4E29-AD00-15246915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38600"/>
            <a:ext cx="3143250" cy="12001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8A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755C51-0769-468F-8B3B-D316F6E0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睡前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1BD04C-8894-4B31-9AF9-E608A850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做 2 分钟身体扫描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98A2BA-A2B1-4D8E-9FAC-F2F4BB4E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38800"/>
            <a:ext cx="7239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4C08F4-4B58-4E45-9D1E-8E49662F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848350"/>
            <a:ext cx="65913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非正式练习的关键：固定场景 + 很小动作 + 重复。</a:t>
            </a:r>
          </a:p>
        </p:txBody>
      </p:sp>
    </p:spTree>
    <p:extLst>
      <p:ext uri="{BB962C8B-B14F-4D97-AF65-F5344CB8AC3E}">
        <p14:creationId xmlns:p14="http://schemas.microsoft.com/office/powerpoint/2010/main" val="20433595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7E372A-A3A9-4CE7-840B-FA1BE029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2E3C9-85DD-4286-8923-045A6B15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91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377A8-8FF9-415E-AE80-CB2A407E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962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631AA-9701-49F3-891F-5F181FB7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67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41FE1-2F02-4531-9E55-4D3521B6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53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6587B-92EE-44A6-9FA5-27240D78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56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742EF-D264-495D-9888-0D8E79CC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876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817E2-AA01-431D-918D-0519DB79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95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4722C-93D9-4D4B-B0BE-0499570D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257300" cy="7239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772F8-1548-4234-9752-2EA39BA2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42950" cy="742950"/>
          </a:xfrm>
          <a:prstGeom xmlns:a="http://schemas.openxmlformats.org/drawingml/2006/main" prst="leftBracke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71DBA-E00F-4A40-B652-CCEECE84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8763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7EC77-0638-435B-8E07-AD8E0F20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191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C5D31-1501-4B2A-908F-F35004FF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-2095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71F45-5E79-484E-9804-48A5880E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137AF-599D-4AFF-B89F-F5243FD2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DCFAF-964C-4CC5-939A-5032D0F5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90700"/>
            <a:ext cx="1143000" cy="-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8802DF-7333-4421-83F3-5871A871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85850"/>
            <a:ext cx="4191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47F33-8DBD-4EDE-B057-7843E867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现场小练习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219FE-0811-4DA1-AFFE-4C1AA16D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3 分钟正念喝水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0E98F-83CC-4716-AE39-B0F61DF1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让大家体验：平凡时刻也可以被重新看见。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F2D59-BF93-4A8F-8A80-7721DCC7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A7467-2F5B-4318-BE0B-044AE7F6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正念之路 · 90 分钟 Practice 课程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112DE0-87AF-4C23-A9F0-E87E59A7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57429B-2B25-42E6-B5F7-6C6BC547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4767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6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D645B-B446-47E1-A373-86F3215A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1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练习步骤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C0F766-2DD6-4AA1-A6E8-9944003F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B0344D-2A19-41FE-926D-F82C86E2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6710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拿起水杯，先不要喝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476717-2027-4B7D-B594-038C4723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71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A2BCC1-A392-48D5-A18F-8D4324F5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8620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看见颜色，感受重量和温度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D1A023-BCC7-4961-9BB7-39902096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93958F-6936-4E76-AA1B-958E8707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0530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慢慢喝一小口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A5DF2C-3778-467E-A6BD-FDAFF982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0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883ACA-8014-43E0-89C0-E1708412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2440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感受水进入嘴里、喉咙、身体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212C43-95DC-4937-ABFB-88BF1C7A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4000500" cy="209550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5D209D-8A8D-4E51-B1D9-541853FB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33528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950" b="1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这和平时喝水有什么不同？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950" b="1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如果一杯水都可以这样被感受到，生活里还有什么平凡时刻可以被重新看见？</a:t>
            </a:r>
          </a:p>
        </p:txBody>
      </p:sp>
    </p:spTree>
    <p:extLst>
      <p:ext uri="{BB962C8B-B14F-4D97-AF65-F5344CB8AC3E}">
        <p14:creationId xmlns:p14="http://schemas.microsoft.com/office/powerpoint/2010/main" val="12618816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AF2831-3A05-47D0-93BC-B988785B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F3D22-EE80-4810-8AA1-3E16F6A8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46276-B2CF-4696-AECD-342A382C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962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0B8A1-C585-4825-88A7-7BC27003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19733-DA22-4552-95C8-59369203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53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0E969-CE62-495E-9126-FB196A87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56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53876-8A46-4564-BCB4-9BD205AD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876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4BA33-0846-4615-987E-14C4FCBC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95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D48EC-1A7D-4F72-B608-9C97835D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257300" cy="7239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57C2E-FCFE-4417-B52E-BF22DEEB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42950" cy="742950"/>
          </a:xfrm>
          <a:prstGeom xmlns:a="http://schemas.openxmlformats.org/drawingml/2006/main" prst="leftBracke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093BD-E4DB-42EF-815D-55FF1704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8763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5695E-AFD1-4B29-A19E-2F117956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191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40F29-51A7-43D7-9B7B-2A4B7F75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-2095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520EB-6045-4898-BCE1-2BB0287B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7FA69-8822-436C-B575-0A608702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7CF91-6DE4-47CD-88E2-B0276FD6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90700"/>
            <a:ext cx="1143000" cy="-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879BC-4A09-420D-A9BC-9892FCAD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85850"/>
            <a:ext cx="4191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A0E7C-0D71-416D-8F99-6C010767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同伴 Mentoring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EC62E-B2EE-4127-B7FF-DCAB7D7E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帮彼此找到最容易坚持的场景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48C87-7C03-400E-B51D-4886DDA9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两人一组：不建议、不评价，只用问题帮助对方变具体。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7464EB-306F-4A15-9B5F-3044FF9F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0A091-9F25-4340-A0D6-E369FB45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正念之路 · 90 分钟 Practice 课程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DE671-7572-4108-B253-39DDE6D3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2DA22A-4A9C-40BC-A016-94C44D48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285750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D4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8218D6-A25A-490C-A696-0FC77228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62E5F1-8E3B-4046-BE67-AF79F142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AD9CE6-0BE3-47E4-AA5E-AC1D6640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76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A：说 1 分钟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15F391-A875-411A-BCF5-1305409F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我最想把正念放进哪个日常场景？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37A490-A322-4C67-B64D-CF1D6C90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85750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6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D97B6E-F163-4242-862A-D42F2E82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38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E69A6C-8224-49E5-BBAD-6F202E6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33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044090-3AD7-444D-8218-0A6BA7BC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76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B：问 2 分钟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9ED8D9-6FC9-47AC-9FB9-9200EAFE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909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什么时候发生？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提醒物是什么？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缩小到多小才做得到？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忘了怎么重新开始？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8C8691-ABA1-4EC3-9891-B516839D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67AC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E58A7C-E911-4D98-B084-2C586955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52BB1B-D9ED-4CFA-ADB7-501245F2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7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42EDFF-2DC7-4E6F-B7AA-9293275D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76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A：承诺 1 分钟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1B5573-4A17-4683-B53F-B05363EF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909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接下来 24 小时，我会在____时，做____分钟正念练习。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A5BAFB-3084-4BD4-B825-0574DF49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76850"/>
            <a:ext cx="857250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73C1D9-9A74-4382-88F8-31D3FE54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486400"/>
            <a:ext cx="792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把“我应该练”变成“我知道在哪一刻开始”。</a:t>
            </a:r>
          </a:p>
        </p:txBody>
      </p:sp>
    </p:spTree>
    <p:extLst>
      <p:ext uri="{BB962C8B-B14F-4D97-AF65-F5344CB8AC3E}">
        <p14:creationId xmlns:p14="http://schemas.microsoft.com/office/powerpoint/2010/main" val="1644666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CE9D39-7B2E-4440-84CF-0DFF1A18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FCA33-32DB-43E1-9F6A-C937E944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91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64DA3-538B-43A3-B561-DE3FFAE2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962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6DB75-672F-45B8-B39C-F48F1179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7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603E1-33E5-4B8A-8BE7-F6B3DCFB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53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6394D-EC1D-4EE9-81F7-06B7E527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56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8BB74-D4C8-4A50-8FEE-D4B1E91D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876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4634A-D469-47EC-AB41-3A54812A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95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F77D9-E9B9-4CFE-AF27-A8D6B23A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257300" cy="7239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C78F6-D064-4C60-9ABD-A7485FC1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42950" cy="742950"/>
          </a:xfrm>
          <a:prstGeom xmlns:a="http://schemas.openxmlformats.org/drawingml/2006/main" prst="leftBracke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32DA2-73CB-4263-80DB-6A5B3833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8763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45156-6CFB-40E3-BB52-741866A3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191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3E6B4-9DE2-409E-A940-1DE636C8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-2095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2522A-FDBA-4E13-B2F2-42B32540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B38D0-F6F6-49B2-8DCB-3A441D6A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70BA5-023E-4715-8F1A-75852891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90700"/>
            <a:ext cx="1143000" cy="-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98A7C-4423-40A4-8787-982A28A0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85850"/>
            <a:ext cx="4191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6F5AF-2CE8-43A2-8E30-F3DA2F15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课后训练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544E2-14CC-4A15-83EA-DAE0EEA5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21 天正念之路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2CA8E-DCE6-413E-8A06-14E0FF11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目标不是每天完美，而是一次次愿意回来。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13BFB-E52A-43BA-B2F5-1B958964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DE5FBC-80E5-4468-B166-2FAAD8F7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正念之路 · 90 分钟 Practice 课程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E2B7B-60D9-40BE-9863-B6E67F19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0A024-F47D-4F9F-924E-744EBC96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3238500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D4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BF74CA-9BA0-4987-8DA3-31D6D809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第 1 周：回到当下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C99929-ED21-4906-82AC-345CE85F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2705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Day 1-7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3 次呼吸、固定触发器、正念吃饭、正念行走、身体扫描。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679183-E826-427A-A3BD-27BBE5FC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238500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6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2AE81-21CA-4EE1-914A-47CBD80C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384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第 2 周：看见情绪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D29296-BE18-44BF-9773-F98B57E6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2705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Day 8-14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情绪命名、身体定位、观察念头、焦虑时 30 秒呼吸。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71B071-7C22-4231-9C87-0BAF22CA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09850"/>
            <a:ext cx="3238500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ACD7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BFAD16-576B-41C0-9394-D8104237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384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第 3 周：正念生活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D0ADDF-7420-4518-8AA7-00F295D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705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Day 15-21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洗澡/刷牙/通勤/陪伴，设计 NOW 提醒物，写正念宣言。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30CEC1-87A8-4AA1-9525-C3EDF1F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9715500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999FCB-7277-4B10-B914-4893FFB7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673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点亮：5 次练习    通关：15 次 + 2 次周复盘    深化：21 次 + 正念宣言</a:t>
            </a:r>
          </a:p>
        </p:txBody>
      </p:sp>
    </p:spTree>
    <p:extLst>
      <p:ext uri="{BB962C8B-B14F-4D97-AF65-F5344CB8AC3E}">
        <p14:creationId xmlns:p14="http://schemas.microsoft.com/office/powerpoint/2010/main" val="12525007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11EA21-B787-4460-8FFC-6325A6DF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0D75A-E6AE-4978-AB98-86A113EA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1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24B0E-C391-4613-A6EE-C0F33220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962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48C1E-9C64-4A6A-8DB9-7379BED6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D1CCC-0DB2-400E-AF37-8228E130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53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47B72-BE32-4C71-B688-29A2327E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56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A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3C203-A5C4-46A1-99AC-08E31890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876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793A1-09AE-4590-AC8F-D88FBDEE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595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22608-D49A-40EE-84BD-CFFB9FF7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257300" cy="7239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CAF2A-F4C1-48AC-9902-8BFB7F9D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42950" cy="742950"/>
          </a:xfrm>
          <a:prstGeom xmlns:a="http://schemas.openxmlformats.org/drawingml/2006/main" prst="leftBracke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25517-6EEC-4655-B013-201BB2C3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8763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8E707-E48C-46C9-A717-70B9EF9D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191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3C4AB-70AF-4256-88C0-CFF4DE5D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-2095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6B0A5-F934-462B-9948-188922F1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AD2B0-82DE-4E8C-AAB3-4CB45652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67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A87F2-F79A-442B-BEC8-C362317E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90700"/>
            <a:ext cx="1143000" cy="-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32F8C-5919-4F9F-A621-3F3D3FC7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85850"/>
            <a:ext cx="4191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4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3CBDB-E849-49E7-B75C-71CEBBF0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网页记录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19359A-9939-467C-88F3-F896EB32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825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用同一个 HTML 记录 21 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B21F5-2129-4C1D-8CC5-3693F168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新增“正念之路”type 页：介绍、21 天练习、完整课程内容都在里面。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EAE0D-047B-401B-A78C-DB1ED6F9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93B71-1645-45A2-883E-F3D5D8BD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正念之路 · 90 分钟 Practice 课程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57EA7-8035-48A8-A9D1-BEF36C94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D0DA8-BBEE-4EA5-97FB-41BCBD50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333625" cy="1924050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D4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EA1987-4715-4C42-B825-1E1E7D99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1. 填姓名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1C54A2-CC4B-4047-AAE5-54EEFBF7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18002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姓名用于导出数据的最外层 key。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57484C-EC83-45CB-B634-B62F9DDE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86050"/>
            <a:ext cx="2333625" cy="1924050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6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1E1FC-E25F-4735-8214-DC209698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14650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2. 选正念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0E3B18-7A82-4BB2-BE5E-ABC53D62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409950"/>
            <a:ext cx="18002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切换到“正念之路”。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F9FEAC-7F1A-4B85-AC0C-84E94C54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2333625" cy="1924050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ACD7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3BBE5A-3F59-48CD-B262-0AE9F560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3. 做 Day 练习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CB87C5-FFE2-4378-94E8-E32055A4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18002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每天填写一个很小的觉察记录。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F9C110-1730-4D7A-8C09-8C26AF49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86050"/>
            <a:ext cx="2333625" cy="1924050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67AC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CE13B3-EB3B-47B9-82D0-AB4C5C29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14650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8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4. 导出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0E2E15-9420-4025-84A6-038EA6F9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09950"/>
            <a:ext cx="18002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导出练习记录和宣言。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CE72D4-31D5-4E3E-B878-BEFF9904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57800"/>
            <a:ext cx="78105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F04441-0E23-4AD4-9ACD-DCECDB2D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67350"/>
            <a:ext cx="7162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每天只要写一句：我此刻注意到 ______。</a:t>
            </a:r>
          </a:p>
        </p:txBody>
      </p:sp>
    </p:spTree>
    <p:extLst>
      <p:ext uri="{BB962C8B-B14F-4D97-AF65-F5344CB8AC3E}">
        <p14:creationId xmlns:p14="http://schemas.microsoft.com/office/powerpoint/2010/main" val="7655524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da384efe4485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026C5-DCD7-47CC-B4BA-04AECD15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14400"/>
            <a:ext cx="6191250" cy="4762500"/>
          </a:xfrm>
          <a:prstGeom xmlns:a="http://schemas.openxmlformats.org/drawingml/2006/main" prst="roundRect">
            <a:avLst>
              <a:gd name="adj" fmla="val 6800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0BFA0-E9EA-40F0-AAD6-8447AC12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2573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F8A00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FF8A00"/>
                </a:solidFill>
                <a:latin typeface="Arial Rounded MT Bold"/>
                <a:ea typeface="Arial Rounded MT Bold"/>
                <a:cs typeface="Arial Rounded MT Bold"/>
              </a:rPr>
              <a:t>今晚带走一句话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9BA6F-D18D-4F2D-A9C5-B92FF022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0"/>
            <a:ext cx="514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9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发现自己离开了，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90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然后愿意回来。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7214B-B4A4-49A9-9BFC-A2DC4B0C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2430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5F606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5F6065"/>
                </a:solidFill>
                <a:latin typeface="PingFang SC"/>
                <a:ea typeface="PingFang SC"/>
                <a:cs typeface="PingFang SC"/>
              </a:rPr>
              <a:t>接下来 24 小时：选一个固定场景，做 3 次呼吸，写一句“我此刻注意到……”。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44301-354D-415F-B609-BCC66674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53000"/>
            <a:ext cx="3714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C0DEF-198A-4DA6-BFFD-EE54471A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825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333333"/>
                </a:solidFill>
                <a:latin typeface="Arial Rounded MT Bold"/>
                <a:ea typeface="Arial Rounded MT Bold"/>
                <a:cs typeface="Arial Rounded MT Bold"/>
              </a:rPr>
              <a:t>正念之路，从一次回来开始</a:t>
            </a:r>
          </a:p>
        </p:txBody>
      </p:sp>
    </p:spTree>
    <p:extLst>
      <p:ext uri="{BB962C8B-B14F-4D97-AF65-F5344CB8AC3E}">
        <p14:creationId xmlns:p14="http://schemas.microsoft.com/office/powerpoint/2010/main" val="1500960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2026-06-30T08:12:47.2000000Z</dcterms:created>
  <dcterms:modified xsi:type="dcterms:W3CDTF">2026-06-30T08:12:47.2000000Z</dcterms:modified>
</coreProperties>
</file>